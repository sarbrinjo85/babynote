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280160"/>
            <a:ext cx="9966960" cy="4480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FB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737360"/>
            <a:ext cx="941832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7200" b="1" i="0">
                <a:solidFill>
                  <a:srgbClr val="FE7D81"/>
                </a:solidFill>
                <a:latin typeface="Malgun Gothic"/>
              </a:rPr>
              <a:t>BabyNote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80360"/>
            <a:ext cx="94183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 i="0">
                <a:solidFill>
                  <a:srgbClr val="A43F45"/>
                </a:solidFill>
                <a:latin typeface="Malgun Gothic"/>
              </a:rPr>
              <a:t>개발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703320"/>
            <a:ext cx="94183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0" i="0">
                <a:solidFill>
                  <a:srgbClr val="706060"/>
                </a:solidFill>
                <a:latin typeface="Malgun Gothic"/>
              </a:rPr>
              <a:t>글로벌 베이비 케어 기록 앱 — KR / JP / 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4526280"/>
            <a:ext cx="2468880" cy="548640"/>
          </a:xfrm>
          <a:prstGeom prst="roundRect">
            <a:avLst/>
          </a:prstGeom>
          <a:solidFill>
            <a:srgbClr val="FFB5A7"/>
          </a:solidFill>
          <a:ln w="19050">
            <a:solidFill>
              <a:srgbClr val="A43F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4526280"/>
            <a:ext cx="24688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A43F45"/>
                </a:solidFill>
                <a:latin typeface="Malgun Gothic"/>
              </a:rPr>
              <a:t>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989320"/>
            <a:ext cx="9418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 i="1">
                <a:solidFill>
                  <a:srgbClr val="706060"/>
                </a:solidFill>
                <a:latin typeface="Malgun Gothic"/>
              </a:rPr>
              <a:t>Flutter · Supabase · Material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A43F45"/>
                </a:solidFill>
                <a:latin typeface="Malgun Gothic"/>
              </a:rPr>
              <a:t>앱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706060"/>
                </a:solidFill>
                <a:latin typeface="Malgun Gothic"/>
              </a:rPr>
              <a:t>Newborn~24M 양육 기록 + 분유·기저귀 재고 + 의료 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 i="0">
                <a:solidFill>
                  <a:srgbClr val="706060"/>
                </a:solidFill>
                <a:latin typeface="Malgun Gothic"/>
              </a:rPr>
              <a:t>02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Flutter 3.41+ 단일 코드베이스로 Android 우선, iOS 호환 가능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Supabase Auth + Postgres RLS — 가족 공유 RLS 적용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한국어 / 일본어 / 영어 — ARB 기반 다국어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타깃: 초보 부모, 새벽 한 손 사용 환경 — 큰 버튼 / 큰 글씨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오프라인 우선 X (MVP는 온라인 위주), Phase별 기능 점진 확장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A43F45"/>
                </a:solidFill>
                <a:latin typeface="Malgun Gothic"/>
              </a:rPr>
              <a:t>홈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706060"/>
                </a:solidFill>
                <a:latin typeface="Malgun Gothic"/>
              </a:rPr>
              <a:t>한 화면에 핵심 정보 모두 노출 (스크롤 최소화)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 i="0">
                <a:solidFill>
                  <a:srgbClr val="706060"/>
                </a:solidFill>
                <a:latin typeface="Malgun Gothic"/>
              </a:rPr>
              <a:t>03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AppBar — Baby Note 스트로크 타이틀 (fill #FE7D81 + stroke #A43F45)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자녀 카드 — 이름·생후 일수 + 체중·키·머리둘레 + WHO 백분위 배지(상위 N% / 하위 N%)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오늘의 요약 차트 — 수유 횟수·수면 시간·기저귀 횟수 가로 bar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오늘의 기록 4 타일 — 수유 / 수면 / 기저귀 / 성장 (마지막 활동 시간 + 알림 도트)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데이터/관리 그리드 — 재고 관리 / 기록 편집 / 성장 통계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의료 그리드 — 단골 병원 / 예방접종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간편수유 FAB — 짧은 탭 1회 저장 / 길게 누름 ml 직접 입력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다가오는 일정 종 — 분유·기저귀·접종 알림 모음 (시트 70% 높이 + 스크롤)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백버튼 — 첫 번째 SnackBar 안내, 2초 이내 두 번째에 종료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A43F45"/>
                </a:solidFill>
                <a:latin typeface="Malgun Gothic"/>
              </a:rPr>
              <a:t>인트로 &amp; 로딩 애니메이션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706060"/>
                </a:solidFill>
                <a:latin typeface="Malgun Gothic"/>
              </a:rPr>
              <a:t>Lottie + 자체 CustomPainter 듀얼 트랙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 i="0">
                <a:solidFill>
                  <a:srgbClr val="706060"/>
                </a:solidFill>
                <a:latin typeface="Malgun Gothic"/>
              </a:rPr>
              <a:t>04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5초 인트로 화면 — 핑크 코끼리 + Baby Note 타이틀 → 자동 진입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ElephantLoader (CustomPainter) — 몸/머리/귀/트렁크/다리 전부 코드 그리기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달리기 모션 — 좌우 sin 이동 + 다리 4개 교차 + 어깨 라인 하이라이트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트렁크 들어올리기 — 사이클 후반 t=0.5~1.0에 위로 컬업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코끝에서 하트 3개 순차 방출(spawn 0.55/0.65/0.75) → 위로 솟으며 페이드아웃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Lottie loading.json 있으면 우선 사용 → 없으면 ElephantLoader fallback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30+ 페이지의 CircularProgressIndicator를 일괄 BabyLoading 으로 교체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A43F45"/>
                </a:solidFill>
                <a:latin typeface="Malgun Gothic"/>
              </a:rPr>
              <a:t>코치 마크 온보딩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706060"/>
                </a:solidFill>
                <a:latin typeface="Malgun Gothic"/>
              </a:rPr>
              <a:t>최초 진입 시 핵심 6개 영역을 dimmed 배경 +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 i="0">
                <a:solidFill>
                  <a:srgbClr val="706060"/>
                </a:solidFill>
                <a:latin typeface="Malgun Gothic"/>
              </a:rPr>
              <a:t>05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tutorial_coach_mark 패키지 + GlobalKey 6개로 위젯 위치 추적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안내 순서 — 자녀 추가 → 알림 종 → 오늘의 기록 → 데이터/관리 → 의료 → 간편수유 FAB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포커스 영역은 paddingFocus 0 + 텍스트는 위쪽 ContentAlign.top + extraOffset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스킵 버튼 텍스트: "다시 보지 않기" — 우상단 배치(FAB와 겹침 방지)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세션 플래그 _dismissedThisSession — 한 번 닫히면 같은 세션에서 자동 표시 X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설정 → 홈 화면 도움말 다시 보기 → 다음 앱 재실행 시 다시 표시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A43F45"/>
                </a:solidFill>
                <a:latin typeface="Malgun Gothic"/>
              </a:rPr>
              <a:t>분유 재고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706060"/>
                </a:solidFill>
                <a:latin typeface="Malgun Gothic"/>
              </a:rPr>
              <a:t>가루분유와 액상분유 듀얼 모드 + 한국 시장 브랜드 프리셋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 i="0">
                <a:solidFill>
                  <a:srgbClr val="706060"/>
                </a:solidFill>
                <a:latin typeface="Malgun Gothic"/>
              </a:rPr>
              <a:t>06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form 컬럼 (powder | liquid) + 마이그레이션 시 기존은 액상으로 전환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가루분유: 통 무게(g) + 1스쿱 g + 1스쿱 ml — 잔량 계산식 포함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액상분유: 1팩/병 ml + 팩 수량 — 단순 ml 차감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한국 8개 브랜드 프리셋 — 남양 임페리얼XO, 매일 앱솔루트/페어리, 일동 산양, 네슬레 NAN, 압타밀, 힙(HiPP), 거버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브랜드 칩 탭 시 1스쿱 g/ml 자동 채움 (수동 수정 가능)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잔량 표시 — 남은 g·ml + 예상 소진일(D-N) + 색상 경고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A43F45"/>
                </a:solidFill>
                <a:latin typeface="Malgun Gothic"/>
              </a:rPr>
              <a:t>성장 통계 — WHO 표준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706060"/>
                </a:solidFill>
                <a:latin typeface="Malgun Gothic"/>
              </a:rPr>
              <a:t>체중·키·머리둘레 백분위 + 5선 곡선 차트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 i="0">
                <a:solidFill>
                  <a:srgbClr val="706060"/>
                </a:solidFill>
                <a:latin typeface="Malgun Gothic"/>
              </a:rPr>
              <a:t>07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WHO 0~24개월 LMS 파라미터 인라인 번들 (boys/girls × weight/height/HC)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Box-Cox Z-score 공식 + erf/inverse-CDF 근사로 정확한 percentile 계산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사용자 친화 라벨 — "또래 평균" / "상위 N%" / "하위 N%" (P{n} 대신)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color band — 정상 녹색 / 주의 주황 / 외곽 빨강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성장 차트 페이지 — fl_chart로 P3·P15·P50·P85·P97 5선 + 자녀 측정점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가상 아이 크기 시각화 — baby emoji 사이즈를 키(cm)에 비례하게 스케일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의료 진단 아님 면책 표시 + 길게 누름으로 진입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A43F45"/>
                </a:solidFill>
                <a:latin typeface="Malgun Gothic"/>
              </a:rPr>
              <a:t>기간 통계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706060"/>
                </a:solidFill>
                <a:latin typeface="Malgun Gothic"/>
              </a:rPr>
              <a:t>1주일 / 1개월 토글 — 수유·수면·기저귀 추세 + 세분화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 i="0">
                <a:solidFill>
                  <a:srgbClr val="706060"/>
                </a:solidFill>
                <a:latin typeface="Malgun Gothic"/>
              </a:rPr>
              <a:t>08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1주일 모드 — 7일 일별 막대 차트, X축 M/d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1개월 모드 — 12개월 월별 막대 차트, X축 M월 (5일 간격 라벨)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기간 통계 카드 3개 — 코랄/민트/세컨더리 컬러 테두리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수유 — 총 회수/ml + 모유·분유·이유식 세분화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수면 — 총 시간 + 평균/일 또는 /월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기저귀 — 총 회수 + 소변·대변·둘 다 세분화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stats_providers fetch limit 1000 — 1개월 데이터 충분 커버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A43F45"/>
                </a:solidFill>
                <a:latin typeface="Malgun Gothic"/>
              </a:rPr>
              <a:t>종합 기록 (기록 편집)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706060"/>
                </a:solidFill>
                <a:latin typeface="Malgun Gothic"/>
              </a:rPr>
              <a:t>수유·수면·기저귀를 시간순 통합한 일별 타임라인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 i="0">
                <a:solidFill>
                  <a:srgbClr val="706060"/>
                </a:solidFill>
                <a:latin typeface="Malgun Gothic"/>
              </a:rPr>
              <a:t>09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단일 페이지 — 탭 없이 데일리 통합 화면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수유 / 수면 / 기저귀 3종 데이터를 한 리스트에 합쳐서 표시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최신 → 과거 정렬 + yyyy-MM-dd 그룹 헤더 (오늘 / 어제 / 날짜)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각 카드 — 이모지 + 요약 + HH:mm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탭 → 편집 페이지, 길게 누름 → 삭제 confirm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성장 측정 기록은 별도 통계 화면(성장 통계 탭)으로 이동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A43F45"/>
                </a:solidFill>
                <a:latin typeface="Malgun Gothic"/>
              </a:rPr>
              <a:t>단골 병원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706060"/>
                </a:solidFill>
                <a:latin typeface="Malgun Gothic"/>
              </a:rPr>
              <a:t>Google Places Autocomplete + 자동 채움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 i="0">
                <a:solidFill>
                  <a:srgbClr val="706060"/>
                </a:solidFill>
                <a:latin typeface="Malgun Gothic"/>
              </a:rPr>
              <a:t>10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PlacesService (HTTP) — autocomplete + details endpoint 직접 호출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language / country 분기 — KR=kr, JP=jp, EN=null (글로벌)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350ms debounce + 후보 5개 드롭다운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후보 선택 시 — 이름/주소/전화/위경도 자동 채움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API 키는 GOOGLE_PLACES_API_KEY (dart-define) — run/dev.json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키 비어있으면 자동완성 비활성화 (앱 정상 동작)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A43F45"/>
                </a:solidFill>
                <a:latin typeface="Malgun Gothic"/>
              </a:rPr>
              <a:t>예방접종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706060"/>
                </a:solidFill>
                <a:latin typeface="Malgun Gothic"/>
              </a:rPr>
              <a:t>한국 표준 schedule 기반 + 다가오는 14일 알림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 i="0">
                <a:solidFill>
                  <a:srgbClr val="706060"/>
                </a:solidFill>
                <a:latin typeface="Malgun Gothic"/>
              </a:rPr>
              <a:t>11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vaccine_schedules — 국가별 표준(KR 우선) seed 데이터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vaccinations — 자녀별 완료 기록 (vaccine_code + dose_number 키)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카드 상태 — 완료 / 다가옴(D-N) / 지난 미접종 / 예정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지난 미접종은 빨간 경고 배지로 강조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홈의 다가오는 일정 종에서 14일 이내 미접종 알림 표시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예방접종 일정 화면에서 한 번에 "접종 완료" 기록 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A43F45"/>
                </a:solidFill>
                <a:latin typeface="Malgun Gothic"/>
              </a:rPr>
              <a:t>Android 홈 위젯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706060"/>
                </a:solidFill>
                <a:latin typeface="Malgun Gothic"/>
              </a:rPr>
              <a:t>4×1 컴팩트 — 잠금화면에서 1탭 진입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 i="0">
                <a:solidFill>
                  <a:srgbClr val="706060"/>
                </a:solidFill>
                <a:latin typeface="Malgun Gothic"/>
              </a:rPr>
              <a:t>12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수유 / 수면 / 기저귀 / 성장 4 타일 — 이모지 + 라벨 + 요약 한 줄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딥링크 — babynote://widget/{type} → MainActivity → GoRouter redirect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Flutter 측 HomeWidgetPublisher — Riverpod watch + saveWidgetData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데이터 변경 시 자동으로 위젯 SharedPreferences 갱신 + updateWidget 호출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수면 진행 중일 때 라벨 "수면중"으로 동적 변경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minHeight 70dp + targetCellHeight 1 — 컴팩트 레이아웃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A43F45"/>
                </a:solidFill>
                <a:latin typeface="Malgun Gothic"/>
              </a:rPr>
              <a:t>알림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706060"/>
                </a:solidFill>
                <a:latin typeface="Malgun Gothic"/>
              </a:rPr>
              <a:t>flutter_local_notifications + ZonedSchedule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 i="0">
                <a:solidFill>
                  <a:srgbClr val="706060"/>
                </a:solidFill>
                <a:latin typeface="Malgun Gothic"/>
              </a:rPr>
              <a:t>13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분유 잔량 &lt; 3일 — 코랄 errorContainer 강조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기저귀 사이즈업 14일 이내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예방접종 14일 이내 미접종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성장 측정 — 마지막 + 7일 후 09:00 주1회 리마인드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수면 진행 중 ongoing notification (앱 종료해도 유지)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Sentry 통합 — 알림 스케줄러 실패 자동 로깅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A43F45"/>
                </a:solidFill>
                <a:latin typeface="Malgun Gothic"/>
              </a:rPr>
              <a:t>다국어 + 폰트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706060"/>
                </a:solidFill>
                <a:latin typeface="Malgun Gothic"/>
              </a:rPr>
              <a:t>ARB 기반 i18n + Jua(주아체) 둥근 폰트 전면 적용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 i="0">
                <a:solidFill>
                  <a:srgbClr val="706060"/>
                </a:solidFill>
                <a:latin typeface="Malgun Gothic"/>
              </a:rPr>
              <a:t>14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lib/l10n/app_ko.arb / app_en.arb / app_ja.arb — 모든 라벨 분리 관리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GoogleFonts.juaTextTheme — textTheme 전체에 Jua 적용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AppBar titleTextStyle도 GoogleFonts.jua(...) 직접 적용 (textTheme 자동 안 되므로)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TabBar / SegmentedButton 라벨도 Jua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A43F45"/>
                </a:solidFill>
                <a:latin typeface="Malgun Gothic"/>
              </a:rPr>
              <a:t>● </a:t>
            </a:r>
            <a:r>
              <a:rPr sz="1500">
                <a:solidFill>
                  <a:srgbClr val="4A4544"/>
                </a:solidFill>
                <a:latin typeface="Malgun Gothic"/>
              </a:rPr>
              <a:t>Korean 라운드 디스플레이 폰트 — 영문 글리프도 둥근 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A43F45"/>
                </a:solidFill>
                <a:latin typeface="Malgun Gothic"/>
              </a:rPr>
              <a:t>디자인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706060"/>
                </a:solidFill>
                <a:latin typeface="Malgun Gothic"/>
              </a:rPr>
              <a:t>파스텔 코랄핑크 + 파스텔 민트 듀얼 시드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 i="0">
                <a:solidFill>
                  <a:srgbClr val="706060"/>
                </a:solidFill>
                <a:latin typeface="Malgun Gothic"/>
              </a:rPr>
              <a:t>15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291840" cy="777240"/>
          </a:xfrm>
          <a:prstGeom prst="roundRect">
            <a:avLst/>
          </a:prstGeom>
          <a:solidFill>
            <a:srgbClr val="FFB5A7"/>
          </a:solidFill>
          <a:ln w="12700">
            <a:solidFill>
              <a:srgbClr val="A43F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#FFB5A7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76272"/>
            <a:ext cx="329184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algun Gothic"/>
              </a:rPr>
              <a:t>Primary (Coral Pink)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83080"/>
            <a:ext cx="3291840" cy="777240"/>
          </a:xfrm>
          <a:prstGeom prst="roundRect">
            <a:avLst/>
          </a:prstGeom>
          <a:solidFill>
            <a:srgbClr val="B6E3C9"/>
          </a:solidFill>
          <a:ln w="12700">
            <a:solidFill>
              <a:srgbClr val="A43F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4A4544"/>
                </a:solidFill>
                <a:latin typeface="Malgun Gothic"/>
              </a:rPr>
              <a:t>#B6E3C9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176272"/>
            <a:ext cx="329184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4A4544"/>
                </a:solidFill>
                <a:latin typeface="Malgun Gothic"/>
              </a:rPr>
              <a:t>Tertiary (Mint)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783080"/>
            <a:ext cx="3291840" cy="777240"/>
          </a:xfrm>
          <a:prstGeom prst="roundRect">
            <a:avLst/>
          </a:prstGeom>
          <a:solidFill>
            <a:srgbClr val="FFF5F0"/>
          </a:solidFill>
          <a:ln w="12700">
            <a:solidFill>
              <a:srgbClr val="A43F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82880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4A4544"/>
                </a:solidFill>
                <a:latin typeface="Malgun Gothic"/>
              </a:rPr>
              <a:t>#FFF5F0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176272"/>
            <a:ext cx="329184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4A4544"/>
                </a:solidFill>
                <a:latin typeface="Malgun Gothic"/>
              </a:rPr>
              <a:t>Scaffold BG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697480"/>
            <a:ext cx="3291840" cy="777240"/>
          </a:xfrm>
          <a:prstGeom prst="roundRect">
            <a:avLst/>
          </a:prstGeom>
          <a:solidFill>
            <a:srgbClr val="FE7D81"/>
          </a:solidFill>
          <a:ln w="12700">
            <a:solidFill>
              <a:srgbClr val="A43F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74320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#FE7D81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90672"/>
            <a:ext cx="329184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algun Gothic"/>
              </a:rPr>
              <a:t>Title Fill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2697480"/>
            <a:ext cx="3291840" cy="777240"/>
          </a:xfrm>
          <a:prstGeom prst="roundRect">
            <a:avLst/>
          </a:prstGeom>
          <a:solidFill>
            <a:srgbClr val="A43F45"/>
          </a:solidFill>
          <a:ln w="12700">
            <a:solidFill>
              <a:srgbClr val="A43F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274320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#A43F45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090672"/>
            <a:ext cx="329184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algun Gothic"/>
              </a:rPr>
              <a:t>Stroke / Dark Coral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2697480"/>
            <a:ext cx="3291840" cy="777240"/>
          </a:xfrm>
          <a:prstGeom prst="roundRect">
            <a:avLst/>
          </a:prstGeom>
          <a:solidFill>
            <a:srgbClr val="D06A5C"/>
          </a:solidFill>
          <a:ln w="12700">
            <a:solidFill>
              <a:srgbClr val="A43F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274320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#D06A5C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090672"/>
            <a:ext cx="329184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algun Gothic"/>
              </a:rPr>
              <a:t>Press Feedback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840480"/>
            <a:ext cx="11155680" cy="2651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069080"/>
            <a:ext cx="1042416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A43F45"/>
                </a:solidFill>
                <a:latin typeface="Malgun Gothic"/>
              </a:rPr>
              <a:t>● </a:t>
            </a:r>
            <a:r>
              <a:rPr sz="1400">
                <a:solidFill>
                  <a:srgbClr val="4A4544"/>
                </a:solidFill>
                <a:latin typeface="Malgun Gothic"/>
              </a:rPr>
              <a:t>ColorScheme.fromSeed dual seed pattern — primary=코랄, tertiary=민트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A43F45"/>
                </a:solidFill>
                <a:latin typeface="Malgun Gothic"/>
              </a:rPr>
              <a:t>● </a:t>
            </a:r>
            <a:r>
              <a:rPr sz="1400">
                <a:solidFill>
                  <a:srgbClr val="4A4544"/>
                </a:solidFill>
                <a:latin typeface="Malgun Gothic"/>
              </a:rPr>
              <a:t>라이트 테마 한정 scaffold/canvas/AppBar 배경 통일 (Coral Cream)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A43F45"/>
                </a:solidFill>
                <a:latin typeface="Malgun Gothic"/>
              </a:rPr>
              <a:t>● </a:t>
            </a:r>
            <a:r>
              <a:rPr sz="1400">
                <a:solidFill>
                  <a:srgbClr val="4A4544"/>
                </a:solidFill>
                <a:latin typeface="Malgun Gothic"/>
              </a:rPr>
              <a:t>모든 Card 기본 — 흰 배경 + 코랄핑크 45% 1px 테두리로 배경과 구분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A43F45"/>
                </a:solidFill>
                <a:latin typeface="Malgun Gothic"/>
              </a:rPr>
              <a:t>● </a:t>
            </a:r>
            <a:r>
              <a:rPr sz="1400">
                <a:solidFill>
                  <a:srgbClr val="4A4544"/>
                </a:solidFill>
                <a:latin typeface="Malgun Gothic"/>
              </a:rPr>
              <a:t>TabBar 선택=코랄핑크 / 미선택=흐림(45%) / 인디케이터=primary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A43F45"/>
                </a:solidFill>
                <a:latin typeface="Malgun Gothic"/>
              </a:rPr>
              <a:t>● </a:t>
            </a:r>
            <a:r>
              <a:rPr sz="1400">
                <a:solidFill>
                  <a:srgbClr val="4A4544"/>
                </a:solidFill>
                <a:latin typeface="Malgun Gothic"/>
              </a:rPr>
              <a:t>SegmentedButton 선택=핑크 35% 파스텔 + 다크 코랄 글자 — 모유 좌/우, 가루/액상 등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A43F45"/>
                </a:solidFill>
                <a:latin typeface="Malgun Gothic"/>
              </a:rPr>
              <a:t>● </a:t>
            </a:r>
            <a:r>
              <a:rPr sz="1400">
                <a:solidFill>
                  <a:srgbClr val="4A4544"/>
                </a:solidFill>
                <a:latin typeface="Malgun Gothic"/>
              </a:rPr>
              <a:t>FilledButton/OutlinedButton — 홈 메뉴 카드와 동일 톤 (흰+코랄 외곽선+다크 코랄 글자)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A43F45"/>
                </a:solidFill>
                <a:latin typeface="Malgun Gothic"/>
              </a:rPr>
              <a:t>● </a:t>
            </a:r>
            <a:r>
              <a:rPr sz="1400">
                <a:solidFill>
                  <a:srgbClr val="4A4544"/>
                </a:solidFill>
                <a:latin typeface="Malgun Gothic"/>
              </a:rPr>
              <a:t>splashColor / highlightColor — Coral Deep #D06A5C 28% / 16%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A43F45"/>
                </a:solidFill>
                <a:latin typeface="Malgun Gothic"/>
              </a:rPr>
              <a:t>기술 스택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706060"/>
                </a:solidFill>
                <a:latin typeface="Malgun Gothic"/>
              </a:rPr>
              <a:t>주요 패키지 / 인프라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 i="0">
                <a:solidFill>
                  <a:srgbClr val="706060"/>
                </a:solidFill>
                <a:latin typeface="Malgun Gothic"/>
              </a:rPr>
              <a:t>16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54864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554480"/>
            <a:ext cx="539496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5120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A43F45"/>
                </a:solidFill>
                <a:latin typeface="Malgun Gothic"/>
              </a:rPr>
              <a:t>Flutter 패키지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512064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A43F45"/>
                </a:solidFill>
                <a:latin typeface="Malgun Gothic"/>
              </a:rPr>
              <a:t>● </a:t>
            </a:r>
            <a:r>
              <a:rPr sz="1300">
                <a:solidFill>
                  <a:srgbClr val="4A4544"/>
                </a:solidFill>
                <a:latin typeface="Malgun Gothic"/>
              </a:rPr>
              <a:t>flutter_riverpod 2.x — 상태 관리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A43F45"/>
                </a:solidFill>
                <a:latin typeface="Malgun Gothic"/>
              </a:rPr>
              <a:t>● </a:t>
            </a:r>
            <a:r>
              <a:rPr sz="1300">
                <a:solidFill>
                  <a:srgbClr val="4A4544"/>
                </a:solidFill>
                <a:latin typeface="Malgun Gothic"/>
              </a:rPr>
              <a:t>go_router — 선언형 라우팅 + redirect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A43F45"/>
                </a:solidFill>
                <a:latin typeface="Malgun Gothic"/>
              </a:rPr>
              <a:t>● </a:t>
            </a:r>
            <a:r>
              <a:rPr sz="1300">
                <a:solidFill>
                  <a:srgbClr val="4A4544"/>
                </a:solidFill>
                <a:latin typeface="Malgun Gothic"/>
              </a:rPr>
              <a:t>fl_chart — 막대/라인 차트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A43F45"/>
                </a:solidFill>
                <a:latin typeface="Malgun Gothic"/>
              </a:rPr>
              <a:t>● </a:t>
            </a:r>
            <a:r>
              <a:rPr sz="1300">
                <a:solidFill>
                  <a:srgbClr val="4A4544"/>
                </a:solidFill>
                <a:latin typeface="Malgun Gothic"/>
              </a:rPr>
              <a:t>lottie + 자체 CustomPainter — 로딩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A43F45"/>
                </a:solidFill>
                <a:latin typeface="Malgun Gothic"/>
              </a:rPr>
              <a:t>● </a:t>
            </a:r>
            <a:r>
              <a:rPr sz="1300">
                <a:solidFill>
                  <a:srgbClr val="4A4544"/>
                </a:solidFill>
                <a:latin typeface="Malgun Gothic"/>
              </a:rPr>
              <a:t>google_fonts (Jua)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A43F45"/>
                </a:solidFill>
                <a:latin typeface="Malgun Gothic"/>
              </a:rPr>
              <a:t>● </a:t>
            </a:r>
            <a:r>
              <a:rPr sz="1300">
                <a:solidFill>
                  <a:srgbClr val="4A4544"/>
                </a:solidFill>
                <a:latin typeface="Malgun Gothic"/>
              </a:rPr>
              <a:t>tutorial_coach_mark — 코치 마크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A43F45"/>
                </a:solidFill>
                <a:latin typeface="Malgun Gothic"/>
              </a:rPr>
              <a:t>● </a:t>
            </a:r>
            <a:r>
              <a:rPr sz="1300">
                <a:solidFill>
                  <a:srgbClr val="4A4544"/>
                </a:solidFill>
                <a:latin typeface="Malgun Gothic"/>
              </a:rPr>
              <a:t>home_widget — Android 위젯 sync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A43F45"/>
                </a:solidFill>
                <a:latin typeface="Malgun Gothic"/>
              </a:rPr>
              <a:t>● </a:t>
            </a:r>
            <a:r>
              <a:rPr sz="1300">
                <a:solidFill>
                  <a:srgbClr val="4A4544"/>
                </a:solidFill>
                <a:latin typeface="Malgun Gothic"/>
              </a:rPr>
              <a:t>flutter_local_notifications + timezone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A43F45"/>
                </a:solidFill>
                <a:latin typeface="Malgun Gothic"/>
              </a:rPr>
              <a:t>● </a:t>
            </a:r>
            <a:r>
              <a:rPr sz="1300">
                <a:solidFill>
                  <a:srgbClr val="4A4544"/>
                </a:solidFill>
                <a:latin typeface="Malgun Gothic"/>
              </a:rPr>
              <a:t>image_picker · share_plus · url_launcher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A43F45"/>
                </a:solidFill>
                <a:latin typeface="Malgun Gothic"/>
              </a:rPr>
              <a:t>● </a:t>
            </a:r>
            <a:r>
              <a:rPr sz="1300">
                <a:solidFill>
                  <a:srgbClr val="4A4544"/>
                </a:solidFill>
                <a:latin typeface="Malgun Gothic"/>
              </a:rPr>
              <a:t>supabase_flutter — Auth + Postgres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A43F45"/>
                </a:solidFill>
                <a:latin typeface="Malgun Gothic"/>
              </a:rPr>
              <a:t>● </a:t>
            </a:r>
            <a:r>
              <a:rPr sz="1300">
                <a:solidFill>
                  <a:srgbClr val="4A4544"/>
                </a:solidFill>
                <a:latin typeface="Malgun Gothic"/>
              </a:rPr>
              <a:t>http — Google Places API 호출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69164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A43F45"/>
                </a:solidFill>
                <a:latin typeface="Malgun Gothic"/>
              </a:rPr>
              <a:t>백엔드 / 인프라 / 도구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94560"/>
            <a:ext cx="502920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A43F45"/>
                </a:solidFill>
                <a:latin typeface="Malgun Gothic"/>
              </a:rPr>
              <a:t>● </a:t>
            </a:r>
            <a:r>
              <a:rPr sz="1300">
                <a:solidFill>
                  <a:srgbClr val="4A4544"/>
                </a:solidFill>
                <a:latin typeface="Malgun Gothic"/>
              </a:rPr>
              <a:t>Supabase — Auth, Postgres, RLS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A43F45"/>
                </a:solidFill>
                <a:latin typeface="Malgun Gothic"/>
              </a:rPr>
              <a:t>● </a:t>
            </a:r>
            <a:r>
              <a:rPr sz="1300">
                <a:solidFill>
                  <a:srgbClr val="4A4544"/>
                </a:solidFill>
                <a:latin typeface="Malgun Gothic"/>
              </a:rPr>
              <a:t>13개 마이그레이션 파일 (init~caregiver_invites)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A43F45"/>
                </a:solidFill>
                <a:latin typeface="Malgun Gothic"/>
              </a:rPr>
              <a:t>● </a:t>
            </a:r>
            <a:r>
              <a:rPr sz="1300">
                <a:solidFill>
                  <a:srgbClr val="4A4544"/>
                </a:solidFill>
                <a:latin typeface="Malgun Gothic"/>
              </a:rPr>
              <a:t>Sentry — 실시간 에러 모니터링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A43F45"/>
                </a:solidFill>
                <a:latin typeface="Malgun Gothic"/>
              </a:rPr>
              <a:t>● </a:t>
            </a:r>
            <a:r>
              <a:rPr sz="1300">
                <a:solidFill>
                  <a:srgbClr val="4A4544"/>
                </a:solidFill>
                <a:latin typeface="Malgun Gothic"/>
              </a:rPr>
              <a:t>Google Places API (KR/JP/EN)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A43F45"/>
                </a:solidFill>
                <a:latin typeface="Malgun Gothic"/>
              </a:rPr>
              <a:t>● </a:t>
            </a:r>
            <a:r>
              <a:rPr sz="1300">
                <a:solidFill>
                  <a:srgbClr val="4A4544"/>
                </a:solidFill>
                <a:latin typeface="Malgun Gothic"/>
              </a:rPr>
              <a:t>WHO 0~24M 성장 표준 LMS 인라인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A43F45"/>
                </a:solidFill>
                <a:latin typeface="Malgun Gothic"/>
              </a:rPr>
              <a:t>● </a:t>
            </a:r>
            <a:r>
              <a:rPr sz="1300">
                <a:solidFill>
                  <a:srgbClr val="4A4544"/>
                </a:solidFill>
                <a:latin typeface="Malgun Gothic"/>
              </a:rPr>
              <a:t>shared_preferences — 테마/온보딩 플래그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A43F45"/>
                </a:solidFill>
                <a:latin typeface="Malgun Gothic"/>
              </a:rPr>
              <a:t>● </a:t>
            </a:r>
            <a:r>
              <a:rPr sz="1300">
                <a:solidFill>
                  <a:srgbClr val="4A4544"/>
                </a:solidFill>
                <a:latin typeface="Malgun Gothic"/>
              </a:rPr>
              <a:t>GitHub Actions (옵션) — 향후 CI/CD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A43F45"/>
                </a:solidFill>
                <a:latin typeface="Malgun Gothic"/>
              </a:rPr>
              <a:t>● </a:t>
            </a:r>
            <a:r>
              <a:rPr sz="1300">
                <a:solidFill>
                  <a:srgbClr val="4A4544"/>
                </a:solidFill>
                <a:latin typeface="Malgun Gothic"/>
              </a:rPr>
              <a:t>Android 무선 디버깅으로 듀얼 폰 동시 설치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280160"/>
            <a:ext cx="9966960" cy="4480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FB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FE7D81"/>
                </a:solidFill>
                <a:latin typeface="Malgun Gothic"/>
              </a:rPr>
              <a:t>Wrap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97480"/>
            <a:ext cx="9418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 i="0">
                <a:solidFill>
                  <a:srgbClr val="A43F45"/>
                </a:solidFill>
                <a:latin typeface="Malgun Gothic"/>
              </a:rPr>
              <a:t>BabyNote v1.0.0 — 새벽에도 한 손으로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4183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A43F45"/>
                </a:solidFill>
                <a:latin typeface="Malgun Gothic"/>
              </a:rPr>
              <a:t>향후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3840480"/>
            <a:ext cx="603504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A43F45"/>
                </a:solidFill>
                <a:latin typeface="Malgun Gothic"/>
              </a:rPr>
              <a:t>● </a:t>
            </a:r>
            <a:r>
              <a:rPr sz="1300">
                <a:solidFill>
                  <a:srgbClr val="4A4544"/>
                </a:solidFill>
                <a:latin typeface="Malgun Gothic"/>
              </a:rPr>
              <a:t>iOS 위젯 (WidgetKit) + 라이브 액티비티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A43F45"/>
                </a:solidFill>
                <a:latin typeface="Malgun Gothic"/>
              </a:rPr>
              <a:t>● </a:t>
            </a:r>
            <a:r>
              <a:rPr sz="1300">
                <a:solidFill>
                  <a:srgbClr val="4A4544"/>
                </a:solidFill>
                <a:latin typeface="Malgun Gothic"/>
              </a:rPr>
              <a:t>Push 알림 (FCM) — 가족 공유 상황 동기화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A43F45"/>
                </a:solidFill>
                <a:latin typeface="Malgun Gothic"/>
              </a:rPr>
              <a:t>● </a:t>
            </a:r>
            <a:r>
              <a:rPr sz="1300">
                <a:solidFill>
                  <a:srgbClr val="4A4544"/>
                </a:solidFill>
                <a:latin typeface="Malgun Gothic"/>
              </a:rPr>
              <a:t>결제 (RevenueCat) — 다자녀 / 클라우드 백업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A43F45"/>
                </a:solidFill>
                <a:latin typeface="Malgun Gothic"/>
              </a:rPr>
              <a:t>● </a:t>
            </a:r>
            <a:r>
              <a:rPr sz="1300">
                <a:solidFill>
                  <a:srgbClr val="4A4544"/>
                </a:solidFill>
                <a:latin typeface="Malgun Gothic"/>
              </a:rPr>
              <a:t>가족 공유 확장 — 초대 코드 흐름 / 권한 그래뉴얼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A43F45"/>
                </a:solidFill>
                <a:latin typeface="Malgun Gothic"/>
              </a:rPr>
              <a:t>● </a:t>
            </a:r>
            <a:r>
              <a:rPr sz="1300">
                <a:solidFill>
                  <a:srgbClr val="4A4544"/>
                </a:solidFill>
                <a:latin typeface="Malgun Gothic"/>
              </a:rPr>
              <a:t>오프라인 우선 (drift + Brick) 동기화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989320"/>
            <a:ext cx="9418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0" i="1">
                <a:solidFill>
                  <a:srgbClr val="706060"/>
                </a:solidFill>
                <a:latin typeface="Malgun Gothic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